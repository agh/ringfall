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Ringfall, built in one hackathon session on 2026-10-21. The one-line description is from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from the journal's 18:10 freeze entry, taken from GitHub at 18:18: 191 commits on main, 35 pull requests merged, 292 unit tests and two Playwright smoke tests passing on main, thirteen cloud sessions dispatched between 17:10 and 17:12 and thirty-three by 18:20, plus thirteen local subagents.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journal's 'The story, not the straight line'. The second act began with a correction and the fourth with a change of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frames from the deterministic run at seed 7. Left: the post stack working at 15:14. Right: the beam at night and the scatter gun with a pickup column, both captured at 16:56.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after weapons, from the journal: twenty seeds per profile, 480 s cap, after stream B1 landed six weapons at 16:22. Weapons, not tuning, moved the bot from never reaching wave eight to winning three runs in twenty.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16:45 entry. The user said the flare on kills was far too much. Two rounds of light tuning missed because nobody had measured a frame. A headless replay and a read of the particle shader found the size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16:05 onwards. Four local streams with disjoint file ownership, then thirteen cloud sessions between 17:10 and 17:12, one issue each. Merge order is gate-first: #32, #30 and #12, then the renderer PRs, then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lists are from the journal. The left column was overruled by the brief or the user; the right column was found out by 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jump-out point. The button opens the live site. The local reel sits next to this deck; the embedded clip is the day cut from 16:40.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issues by theme, from GitHub at the time of writing. The hard stop is 18:30 UTC, from the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jpg"/><Relationship Id="rId6" Type="http://schemas.openxmlformats.org/officeDocument/2006/relationships/hyperlink" Target="https://ringfall.alexhowells.com" TargetMode="External"/><Relationship Id="rId7" Type="http://schemas.openxmlformats.org/officeDocument/2006/relationships/hyperlink" Target="https://github.com/agh/hack" TargetMode="External"/><Relationship Id="rId8" Type="http://schemas.openxmlformats.org/officeDocument/2006/relationships/hyperlink" Target="https://github.com/agh/hack/blob/main/docs/journey/README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ero frame" descr="1514-renderer-v2-post.png"/>
          <p:cNvPicPr>
            <a:picLocks noChangeAspect="1"/>
          </p:cNvPicPr>
          <p:nvPr/>
        </p:nvPicPr>
        <p:blipFill>
          <a:blip r:embed="rId3"/>
          <a:srcRect l="24564" r="24564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Wordmark"/>
          <p:cNvSpPr txBox="1"/>
          <p:nvPr/>
        </p:nvSpPr>
        <p:spPr>
          <a:xfrm>
            <a:off x="548640" y="20116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spc="800">
                <a:solidFill>
                  <a:srgbClr val="7DD3FC"/>
                </a:solidFill>
                <a:latin typeface="Arial"/>
              </a:rPr>
              <a:t>RINGFALL</a:t>
            </a:r>
          </a:p>
        </p:txBody>
      </p:sp>
      <p:sp>
        <p:nvSpPr>
          <p:cNvPr id="4" name="One-liner"/>
          <p:cNvSpPr txBox="1"/>
          <p:nvPr/>
        </p:nvSpPr>
        <p:spPr>
          <a:xfrm>
            <a:off x="548640" y="31546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4D8"/>
                </a:solidFill>
                <a:latin typeface="Arial"/>
              </a:rPr>
              <a:t>A browser-native arena shooter.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8E4D8"/>
                </a:solidFill>
                <a:latin typeface="Arial"/>
              </a:rPr>
              <a:t>One ring, one dawn, two kinds of thing that want you dead.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8E4D8"/>
                </a:solidFill>
                <a:latin typeface="Arial"/>
              </a:rPr>
              <a:t>TypeScript + three.js, zero assets.</a:t>
            </a:r>
          </a:p>
        </p:txBody>
      </p:sp>
      <p:sp>
        <p:nvSpPr>
          <p:cNvPr id="5" name="Date"/>
          <p:cNvSpPr txBox="1"/>
          <p:nvPr/>
        </p:nvSpPr>
        <p:spPr>
          <a:xfrm>
            <a:off x="54864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spc="200">
                <a:solidFill>
                  <a:srgbClr val="B8D8EA"/>
                </a:solidFill>
                <a:latin typeface="JetBrains Mono"/>
              </a:rPr>
              <a:t>2026-10-21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5486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A0B8"/>
                </a:solidFill>
                <a:latin typeface="JetBrains Mono"/>
              </a:rPr>
              <a:t>One session, four acts, one reel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The brief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19" y="1554480"/>
            <a:ext cx="63093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E8E4D8"/>
                </a:solidFill>
                <a:latin typeface="Arial"/>
              </a:rPr>
              <a:t>A WebGL arena shooter, running in a browser, no assets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2286000"/>
            <a:ext cx="63093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E8E4D8"/>
                </a:solidFill>
                <a:latin typeface="Arial"/>
              </a:rPr>
              <a:t>Four hours, 14:08 to 18:30 UTC: three building, one coaching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3017520"/>
            <a:ext cx="63093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E8E4D8"/>
                </a:solidFill>
                <a:latin typeface="Arial"/>
              </a:rPr>
              <a:t>To crefft engineering standards: gates on every commit</a:t>
            </a:r>
          </a:p>
        </p:txBody>
      </p:sp>
      <p:pic>
        <p:nvPicPr>
          <p:cNvPr id="9" name="Title v1" descr="1427-title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54480"/>
            <a:ext cx="3749039" cy="21088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37033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14:27  the first title screen</a:t>
            </a:r>
          </a:p>
        </p:txBody>
      </p:sp>
      <p:sp>
        <p:nvSpPr>
          <p:cNvPr id="11" name="Stat 1"/>
          <p:cNvSpPr txBox="1"/>
          <p:nvPr/>
        </p:nvSpPr>
        <p:spPr>
          <a:xfrm>
            <a:off x="548640" y="4480560"/>
            <a:ext cx="24992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24992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D8EA"/>
                </a:solidFill>
                <a:latin typeface="JetBrains Mono"/>
              </a:rPr>
              <a:t>commits on main at 18:18</a:t>
            </a:r>
          </a:p>
        </p:txBody>
      </p:sp>
      <p:sp>
        <p:nvSpPr>
          <p:cNvPr id="13" name="Stat 2"/>
          <p:cNvSpPr txBox="1"/>
          <p:nvPr/>
        </p:nvSpPr>
        <p:spPr>
          <a:xfrm>
            <a:off x="3322243" y="4480560"/>
            <a:ext cx="24992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243" y="5394960"/>
            <a:ext cx="24992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D8EA"/>
                </a:solidFill>
                <a:latin typeface="JetBrains Mono"/>
              </a:rPr>
              <a:t>pull requests merged</a:t>
            </a:r>
          </a:p>
        </p:txBody>
      </p:sp>
      <p:sp>
        <p:nvSpPr>
          <p:cNvPr id="15" name="Stat 3"/>
          <p:cNvSpPr txBox="1"/>
          <p:nvPr/>
        </p:nvSpPr>
        <p:spPr>
          <a:xfrm>
            <a:off x="6095847" y="4480560"/>
            <a:ext cx="24992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292 + 2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5394960"/>
            <a:ext cx="24992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D8EA"/>
                </a:solidFill>
                <a:latin typeface="JetBrains Mono"/>
              </a:rPr>
              <a:t>unit + smoke tests pass</a:t>
            </a:r>
          </a:p>
        </p:txBody>
      </p:sp>
      <p:sp>
        <p:nvSpPr>
          <p:cNvPr id="17" name="Stat 4"/>
          <p:cNvSpPr txBox="1"/>
          <p:nvPr/>
        </p:nvSpPr>
        <p:spPr>
          <a:xfrm>
            <a:off x="8869451" y="4480560"/>
            <a:ext cx="24992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33 + 13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451" y="5394960"/>
            <a:ext cx="24992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D8EA"/>
                </a:solidFill>
                <a:latin typeface="JetBrains Mono"/>
              </a:rPr>
              <a:t>cloud sessions + local subagents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Four acts</a:t>
            </a:r>
          </a:p>
        </p:txBody>
      </p:sp>
      <p:sp>
        <p:nvSpPr>
          <p:cNvPr id="3" name="Act card 1"/>
          <p:cNvSpPr/>
          <p:nvPr/>
        </p:nvSpPr>
        <p:spPr>
          <a:xfrm>
            <a:off x="548640" y="1554480"/>
            <a:ext cx="2567863" cy="320040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874519"/>
            <a:ext cx="502920" cy="50292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DD3FC"/>
                </a:solidFill>
                <a:latin typeface="Arial"/>
              </a:rPr>
              <a:t>Act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9277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4D8"/>
                </a:solidFill>
                <a:latin typeface="Arial"/>
              </a:rPr>
              <a:t>A working game in forty minutes: pure core, tests first, plain renderer, draft PR at 14:30</a:t>
            </a:r>
          </a:p>
        </p:txBody>
      </p:sp>
      <p:sp>
        <p:nvSpPr>
          <p:cNvPr id="7" name="Act card 2"/>
          <p:cNvSpPr/>
          <p:nvPr/>
        </p:nvSpPr>
        <p:spPr>
          <a:xfrm>
            <a:off x="3390823" y="1554480"/>
            <a:ext cx="2567863" cy="320040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10863" y="1874519"/>
            <a:ext cx="502920" cy="50292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0863" y="260604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DD3FC"/>
                </a:solidFill>
                <a:latin typeface="Arial"/>
              </a:rPr>
              <a:t>Act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0863" y="3154680"/>
            <a:ext cx="19277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4D8"/>
                </a:solidFill>
                <a:latin typeface="Arial"/>
              </a:rPr>
              <a:t>The renderer rewrite, and three unrelated bugs hiding in one black frame</a:t>
            </a:r>
          </a:p>
        </p:txBody>
      </p:sp>
      <p:sp>
        <p:nvSpPr>
          <p:cNvPr id="11" name="Act card 3"/>
          <p:cNvSpPr/>
          <p:nvPr/>
        </p:nvSpPr>
        <p:spPr>
          <a:xfrm>
            <a:off x="6233007" y="1554480"/>
            <a:ext cx="2567863" cy="320040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3047" y="1874519"/>
            <a:ext cx="502920" cy="50292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DD3FC"/>
                </a:solidFill>
                <a:latin typeface="Arial"/>
              </a:rPr>
              <a:t>Act three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154680"/>
            <a:ext cx="19277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4D8"/>
                </a:solidFill>
                <a:latin typeface="Arial"/>
              </a:rPr>
              <a:t>The game plays itself: bot, headless harness, deterministic recorder, offline score</a:t>
            </a:r>
          </a:p>
        </p:txBody>
      </p:sp>
      <p:sp>
        <p:nvSpPr>
          <p:cNvPr id="15" name="Act card 4"/>
          <p:cNvSpPr/>
          <p:nvPr/>
        </p:nvSpPr>
        <p:spPr>
          <a:xfrm>
            <a:off x="9075191" y="1554480"/>
            <a:ext cx="2567863" cy="320040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95231" y="1874519"/>
            <a:ext cx="502920" cy="50292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5231" y="260604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DD3FC"/>
                </a:solidFill>
                <a:latin typeface="Arial"/>
              </a:rPr>
              <a:t>Act 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5231" y="3154680"/>
            <a:ext cx="19277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4D8"/>
                </a:solidFill>
                <a:latin typeface="Arial"/>
              </a:rPr>
              <a:t>The coach: four local streams, then thirty-three cloud sessions, one issue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A0B8"/>
                </a:solidFill>
                <a:latin typeface="JetBrains Mono"/>
              </a:rPr>
              <a:t>The correction between acts one and two: the first thirty seconds are the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What a player sees</a:t>
            </a:r>
          </a:p>
        </p:txBody>
      </p:sp>
      <p:pic>
        <p:nvPicPr>
          <p:cNvPr id="3" name="Day frame" descr="1514-renderer-v2-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60318"/>
            <a:ext cx="6979615" cy="39260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6079"/>
            <a:ext cx="6979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Dawn on the ring: sun, bloom on the trims, mountains at the rim</a:t>
            </a:r>
          </a:p>
        </p:txBody>
      </p:sp>
      <p:pic>
        <p:nvPicPr>
          <p:cNvPr id="5" name="Night frame" descr="1656-wave2-night-be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015" y="1463040"/>
            <a:ext cx="3749039" cy="2108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94015" y="3681603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Wave 2 at night, beam in hand, ring overhead</a:t>
            </a:r>
          </a:p>
        </p:txBody>
      </p:sp>
      <p:pic>
        <p:nvPicPr>
          <p:cNvPr id="7" name="Scatter frame" descr="1656-wave3-scatter-picku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015" y="4074795"/>
            <a:ext cx="3749039" cy="2108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94015" y="6293357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Wave 3, the scatter gun and a pickup 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The game plays itself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19" y="1554480"/>
            <a:ext cx="539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8E4D8"/>
                </a:solidFill>
                <a:latin typeface="Arial"/>
              </a:rPr>
              <a:t>The bot: state in, keyboard and mouse out, no more than a person sees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2468880"/>
            <a:ext cx="539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8E4D8"/>
                </a:solidFill>
                <a:latin typeface="Arial"/>
              </a:rPr>
              <a:t>The balance gate: twenty seeded games per profile, win rate and clear times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3383280"/>
            <a:ext cx="539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8E4D8"/>
                </a:solidFill>
                <a:latin typeface="Arial"/>
              </a:rPr>
              <a:t>The recorder: one sim step per captured frame, so the film runs at speed</a:t>
            </a:r>
          </a:p>
        </p:txBody>
      </p:sp>
      <p:sp>
        <p:nvSpPr>
          <p:cNvPr id="9" name="Balance card"/>
          <p:cNvSpPr/>
          <p:nvPr/>
        </p:nvSpPr>
        <p:spPr>
          <a:xfrm>
            <a:off x="7132320" y="1554480"/>
            <a:ext cx="4510735" cy="274320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3870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7DD3FC"/>
                </a:solidFill>
                <a:latin typeface="JetBrains Mono"/>
              </a:rPr>
              <a:t>BALANCE AFTER WEAPONS, 16:22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A0B8"/>
                </a:solidFill>
                <a:latin typeface="JetBrains Mono"/>
              </a:rP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88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E4D8"/>
                </a:solidFill>
                <a:latin typeface="JetBrains Mono"/>
              </a:rPr>
              <a:t>Steady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4747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E4D8"/>
                </a:solidFill>
                <a:latin typeface="JetBrains Mono"/>
              </a:rPr>
              <a:t>Reckless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3317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A0B8"/>
                </a:solidFill>
                <a:latin typeface="JetBrains Mono"/>
              </a:rPr>
              <a:t>Win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7889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JetBrains Mono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4747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JetBrains Mono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A0B8"/>
                </a:solidFill>
                <a:latin typeface="JetBrains Mono"/>
              </a:rPr>
              <a:t>Waves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889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JetBrains Mono"/>
              </a:rPr>
              <a:t>5.35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4747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JetBrains Mono"/>
              </a:rPr>
              <a:t>4.20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2331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A0B8"/>
                </a:solidFill>
                <a:latin typeface="JetBrains Mono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2788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JetBrains Mono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4747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BBF24"/>
                </a:solidFill>
                <a:latin typeface="JetBrains Mono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D8EA"/>
                </a:solidFill>
                <a:latin typeface="Arial"/>
              </a:rPr>
              <a:t>One seed drives balance in Node, smoke tests in Chromium, and the demo film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A0B8"/>
                </a:solidFill>
                <a:latin typeface="JetBrains Mono"/>
              </a:rPr>
              <a:t>Before weapons: 0% win rate on both profiles, no run reached wave eight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The whiteout</a:t>
            </a:r>
          </a:p>
        </p:txBody>
      </p:sp>
      <p:pic>
        <p:nvPicPr>
          <p:cNvPr id="3" name="Before" descr="1652-night-kill-bef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64327" cy="3017434"/>
          </a:xfrm>
          <a:prstGeom prst="rect">
            <a:avLst/>
          </a:prstGeom>
        </p:spPr>
      </p:pic>
      <p:pic>
        <p:nvPicPr>
          <p:cNvPr id="4" name="After" descr="1700-night-kill-af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463040"/>
            <a:ext cx="5364327" cy="30174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90202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Before, 16:52  mean brightness 204 of 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4590202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After, 17:00  mean brightness 61 of 255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55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7185"/>
                </a:solidFill>
                <a:latin typeface="JetBrains Mono"/>
              </a:rPr>
              <a:t>Cause  </a:t>
            </a:r>
            <a:r>
              <a:rPr sz="1600" b="0">
                <a:solidFill>
                  <a:srgbClr val="E8E4D8"/>
                </a:solidFill>
                <a:latin typeface="Arial"/>
              </a:rPr>
              <a:t>sprite size = size x 300 / depth, so forty sparks at 375 px each, additive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47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JetBrains Mono"/>
              </a:rPr>
              <a:t>Fix    </a:t>
            </a:r>
            <a:r>
              <a:rPr sz="1600" b="0">
                <a:solidFill>
                  <a:srgbClr val="E8E4D8"/>
                </a:solidFill>
                <a:latin typeface="Arial"/>
              </a:rPr>
              <a:t>sprites capped at 64 px, faded within 2 m of the eye, blasts scaled by 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Coach, not player</a:t>
            </a:r>
          </a:p>
        </p:txBody>
      </p:sp>
      <p:sp>
        <p:nvSpPr>
          <p:cNvPr id="3" name="Coach card 1"/>
          <p:cNvSpPr/>
          <p:nvPr/>
        </p:nvSpPr>
        <p:spPr>
          <a:xfrm>
            <a:off x="548640" y="1508760"/>
            <a:ext cx="3484778" cy="402336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8446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DD3FC"/>
                </a:solidFill>
                <a:latin typeface="Arial"/>
              </a:rPr>
              <a:t>local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2844698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A  environment and the lighting hook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B1  simulation, input and HUD for weapons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B2  weapon viewmodels, pickups, sounds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C  the reel script and its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9138" y="347472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A0B8"/>
                </a:solidFill>
                <a:latin typeface="JetBrains Mono"/>
              </a:rPr>
              <a:t>&gt;</a:t>
            </a:r>
          </a:p>
        </p:txBody>
      </p:sp>
      <p:sp>
        <p:nvSpPr>
          <p:cNvPr id="8" name="Coach card 2"/>
          <p:cNvSpPr/>
          <p:nvPr/>
        </p:nvSpPr>
        <p:spPr>
          <a:xfrm>
            <a:off x="4353458" y="1508760"/>
            <a:ext cx="3484778" cy="402336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498" y="1737360"/>
            <a:ext cx="28446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498" y="260604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DD3FC"/>
                </a:solidFill>
                <a:latin typeface="Arial"/>
              </a:rPr>
              <a:t>cloud sessions, one issue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154680"/>
            <a:ext cx="2844698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Briefed with the files it owns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The capture hook at seed 7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The gates to run and the PR template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Reports back with the measured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3956" y="347472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A0B8"/>
                </a:solidFill>
                <a:latin typeface="JetBrains Mono"/>
              </a:rPr>
              <a:t>&gt;</a:t>
            </a:r>
          </a:p>
        </p:txBody>
      </p:sp>
      <p:sp>
        <p:nvSpPr>
          <p:cNvPr id="13" name="Coach card 3"/>
          <p:cNvSpPr/>
          <p:nvPr/>
        </p:nvSpPr>
        <p:spPr>
          <a:xfrm>
            <a:off x="8158276" y="1508760"/>
            <a:ext cx="3484778" cy="402336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8316" y="1737360"/>
            <a:ext cx="28446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BF24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8316" y="260604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DD3FC"/>
                </a:solidFill>
                <a:latin typeface="Arial"/>
              </a:rPr>
              <a:t>merge order, gate-first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8316" y="3154680"/>
            <a:ext cx="2844698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#32 core purity as a lint rule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#30 luminance gate, #12 balance gate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Then the renderer pull requests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E8E4D8"/>
                </a:solidFill>
                <a:latin typeface="Arial"/>
              </a:rPr>
              <a:t>Then core, main merged into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Calls that were overruled, and calls that were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643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DD3FC"/>
                </a:solidFill>
                <a:latin typeface="Arial"/>
              </a:rPr>
              <a:t>Overruled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57984"/>
            <a:ext cx="128016" cy="128016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A plain first renderer: fast, then judged insufficient, rewritten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35224"/>
            <a:ext cx="128016" cy="128016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Eight uniform waves: deferred to five named beats in #8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12464"/>
            <a:ext cx="128016" cy="128016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Screenshots as proof of play: replaced by bot, harness, recorder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One squashed commit for act two: back to one concern per commit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66944"/>
            <a:ext cx="128016" cy="128016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Holding PR #1 as a draft: main unblocked first, thirteen agents branched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463040"/>
            <a:ext cx="53643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7185"/>
                </a:solidFill>
                <a:latin typeface="Arial"/>
              </a:rPr>
              <a:t>Wrong on the 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278727" y="2157984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201168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Briefing the flare fix as light numbers: the cause was the size law</a:t>
            </a:r>
          </a:p>
        </p:txBody>
      </p:sp>
      <p:sp>
        <p:nvSpPr>
          <p:cNvPr id="17" name="Oval 16"/>
          <p:cNvSpPr/>
          <p:nvPr/>
        </p:nvSpPr>
        <p:spPr>
          <a:xfrm>
            <a:off x="6278727" y="2935224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278892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Filing frames under guessed times: renamed to the capture minute</a:t>
            </a:r>
          </a:p>
        </p:txBody>
      </p:sp>
      <p:sp>
        <p:nvSpPr>
          <p:cNvPr id="19" name="Oval 18"/>
          <p:cNvSpPr/>
          <p:nvPr/>
        </p:nvSpPr>
        <p:spPr>
          <a:xfrm>
            <a:off x="6278727" y="3712464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8767" y="3566160"/>
            <a:ext cx="50442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D8"/>
                </a:solidFill>
                <a:latin typeface="Arial"/>
              </a:rPr>
              <a:t>A checkpoint commit to satisfy the stop hook: broke lint for one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Demo</a:t>
            </a:r>
          </a:p>
        </p:txBody>
      </p:sp>
      <p:pic>
        <p:nvPicPr>
          <p:cNvPr id="3" name="Reel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463040"/>
            <a:ext cx="6400800" cy="3600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7321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D8EA"/>
                </a:solidFill>
                <a:latin typeface="JetBrains Mono"/>
              </a:rPr>
              <a:t>Embedded reel, click to play</a:t>
            </a:r>
          </a:p>
        </p:txBody>
      </p:sp>
      <p:sp>
        <p:nvSpPr>
          <p:cNvPr id="5" name="Play button">
            <a:hlinkClick r:id="rId6"/>
          </p:cNvPr>
          <p:cNvSpPr/>
          <p:nvPr/>
        </p:nvSpPr>
        <p:spPr>
          <a:xfrm>
            <a:off x="7406640" y="1645920"/>
            <a:ext cx="4236415" cy="1188720"/>
          </a:xfrm>
          <a:prstGeom prst="roundRect">
            <a:avLst>
              <a:gd name="adj" fmla="val 15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B1A2E"/>
                </a:solidFill>
                <a:latin typeface="Arial"/>
              </a:rPr>
              <a:t>Play the demo reel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3017520"/>
            <a:ext cx="4236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8D8EA"/>
                </a:solidFill>
                <a:latin typeface="JetBrains Mono"/>
              </a:rPr>
              <a:t>ringfall.alexhowells.com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611880"/>
            <a:ext cx="4236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D8"/>
                </a:solidFill>
                <a:latin typeface="JetBrains Mono"/>
              </a:rPr>
              <a:t>Local file: ringfall-reel-v5-web.mp4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8E4D8"/>
                </a:solidFill>
                <a:latin typeface="JetBrains Mono"/>
              </a:rPr>
              <a:t>(next to this deck)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572000"/>
            <a:ext cx="4236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A0B8"/>
                </a:solidFill>
                <a:latin typeface="JetBrains Mono"/>
              </a:rPr>
              <a:t>Code  </a:t>
            </a:r>
            <a:r>
              <a:rPr sz="1300" b="0">
                <a:solidFill>
                  <a:srgbClr val="7DD3FC"/>
                </a:solidFill>
                <a:latin typeface="JetBrains Mono"/>
                <a:hlinkClick r:id="rId7"/>
              </a:rPr>
              <a:t>github.com/agh/hack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029200"/>
            <a:ext cx="4236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A0B8"/>
                </a:solidFill>
                <a:latin typeface="JetBrains Mono"/>
              </a:rPr>
              <a:t>Journal  </a:t>
            </a:r>
            <a:r>
              <a:rPr sz="1300" b="0">
                <a:solidFill>
                  <a:srgbClr val="7DD3FC"/>
                </a:solidFill>
                <a:latin typeface="JetBrains Mono"/>
                <a:hlinkClick r:id="rId8"/>
              </a:rPr>
              <a:t>docs/journey/README.md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4D8"/>
                </a:solidFill>
                <a:latin typeface="Arial"/>
              </a:rPr>
              <a:t>What is next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19" y="144475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DD3FC"/>
                </a:solidFill>
                <a:latin typeface="Arial"/>
              </a:rPr>
              <a:t>Bloom and flare, split by emitter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8105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D8EA"/>
                </a:solidFill>
                <a:latin typeface="JetBrains Mono"/>
              </a:rPr>
              <a:t>#25 post, #26 explosions, #28 weapons, #29 pickups, #31 night, #30 the gate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31343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DD3FC"/>
                </a:solidFill>
                <a:latin typeface="Arial"/>
              </a:rPr>
              <a:t>Archetype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679191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D8EA"/>
                </a:solidFill>
                <a:latin typeface="JetBrains Mono"/>
              </a:rPr>
              <a:t>#17 a third enemy and encounter spice, in the Later epic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1821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DD3FC"/>
                </a:solidFill>
                <a:latin typeface="Arial"/>
              </a:rPr>
              <a:t>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54787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D8EA"/>
                </a:solidFill>
                <a:latin typeface="JetBrains Mono"/>
              </a:rPr>
              <a:t>#10 compliance pass, #49 hero banner and README, #50 no franchise references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069079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4050791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DD3FC"/>
                </a:solidFill>
                <a:latin typeface="Arial"/>
              </a:rPr>
              <a:t>Hygiene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416551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D8EA"/>
                </a:solidFill>
                <a:latin typeface="JetBrains Mono"/>
              </a:rPr>
              <a:t>#43 docs: Vale, typos, links; #44 workflows: actionlint, zizmor, gitleaks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A2E"/>
                </a:solidFill>
                <a:latin typeface="JetBrains Mon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91947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DD3FC"/>
                </a:solidFill>
                <a:latin typeface="Arial"/>
              </a:rPr>
              <a:t>Adversarial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528523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D8EA"/>
                </a:solidFill>
                <a:latin typeface="JetBrains Mono"/>
              </a:rPr>
              <a:t>#51 correctness, #52 security, #53 design and UX, #54 documentation</a:t>
            </a:r>
          </a:p>
        </p:txBody>
      </p:sp>
      <p:sp>
        <p:nvSpPr>
          <p:cNvPr id="18" name="Hard stop card"/>
          <p:cNvSpPr/>
          <p:nvPr/>
        </p:nvSpPr>
        <p:spPr>
          <a:xfrm>
            <a:off x="9144000" y="1554480"/>
            <a:ext cx="2499055" cy="1965960"/>
          </a:xfrm>
          <a:prstGeom prst="roundRect">
            <a:avLst>
              <a:gd name="adj" fmla="val 6000"/>
            </a:avLst>
          </a:prstGeom>
          <a:solidFill>
            <a:srgbClr val="101F36"/>
          </a:solidFill>
          <a:ln w="9525">
            <a:solidFill>
              <a:srgbClr val="8A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783080"/>
            <a:ext cx="1950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200">
                <a:solidFill>
                  <a:srgbClr val="8AA0B8"/>
                </a:solidFill>
                <a:latin typeface="JetBrains Mono"/>
              </a:rPr>
              <a:t>HARD 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148840"/>
            <a:ext cx="1950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BBF24"/>
                </a:solidFill>
                <a:latin typeface="JetBrains Mono"/>
              </a:rPr>
              <a:t>18:30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017520"/>
            <a:ext cx="1950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D8EA"/>
                </a:solidFill>
                <a:latin typeface="JetBrains Mono"/>
              </a:rPr>
              <a:t>UTC,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DD3FC"/>
      </a:hlink>
      <a:folHlink>
        <a:srgbClr val="B8D8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